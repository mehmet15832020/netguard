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5486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0284C7"/>
                </a:solidFill>
              </a:rPr>
              <a:t>Guard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383280"/>
            <a:ext cx="374903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52044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</a:rPr>
              <a:t>Açık Kaynak
Ağ Güvenliği İzleme Platformu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Mehmet Çapar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40680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Sakarya Üniversitesi — Bilgisayar Mühendisliği —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87568"/>
            <a:ext cx="3840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Danışman: Prof. Dr. İbrahim ÖZÇELİK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822960"/>
            <a:ext cx="7040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1">
                <a:solidFill>
                  <a:srgbClr val="0F172A"/>
                </a:solidFill>
              </a:rPr>
              <a:t>"Splunk $50K/yıl.
QRadar $30K/yıl.
NetGuard: Ücretsiz,
30 dakikada kurulum."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108960"/>
            <a:ext cx="1691640" cy="914400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16382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84C7"/>
                </a:solidFill>
              </a:rPr>
              <a:t>83K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6576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satır kod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108960"/>
            <a:ext cx="1691640" cy="91440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16382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</a:rPr>
              <a:t>2.788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6576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test / 0 hata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108960"/>
            <a:ext cx="1691640" cy="9144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16382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</a:rPr>
              <a:t>50+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6576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sigma kuralı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3108960"/>
            <a:ext cx="1691640" cy="9144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163824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97706"/>
                </a:solidFill>
              </a:rPr>
              <a:t>5.9 sn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6576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ort. tespit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4206240"/>
            <a:ext cx="7040880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251960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NIST SP 800-94  ·  CIS Controls v8.1  ·  MITRE ATT&amp;CK v17  ·  SANS NSM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4754880"/>
            <a:ext cx="7040880" cy="1920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5212080"/>
            <a:ext cx="7040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BD5E1"/>
                </a:solidFill>
              </a:rPr>
              <a:t>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66928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</a:rPr>
              <a:t>[ NetGuard Dashboard — Overview Ekranı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Şirketler tehdit altında — ama bütçeleri yok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029200" cy="2011680"/>
          </a:xfrm>
          <a:prstGeom prst="rect">
            <a:avLst/>
          </a:prstGeom>
          <a:solidFill>
            <a:srgbClr val="FEE2E2"/>
          </a:solidFill>
          <a:ln w="317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C2626"/>
                </a:solidFill>
              </a:rPr>
              <a:t>197 GÜN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</a:rPr>
              <a:t>Ortalama saldırı tespit süresi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06040"/>
            <a:ext cx="4206240" cy="9525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Bu sürede saldırgan ağda serbestçe dolaşıyor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74720"/>
            <a:ext cx="5029200" cy="2011680"/>
          </a:xfrm>
          <a:prstGeom prst="rect">
            <a:avLst/>
          </a:prstGeom>
          <a:solidFill>
            <a:srgbClr val="FEF3C7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6118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D97706"/>
                </a:solidFill>
              </a:rPr>
              <a:t>$4.45 Milyon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</a:rPr>
              <a:t>Ortalama veri ihlali maliyeti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892040"/>
            <a:ext cx="4206240" cy="95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Tek bir ihlal küçük şirket için yıkıcı olabilir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188720"/>
            <a:ext cx="6035040" cy="51206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280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Mevcut çözümler çok pahalı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7830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Darktrace NDR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2093976"/>
            <a:ext cx="3977640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20756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C2626"/>
                </a:solidFill>
              </a:rPr>
              <a:t>~$100K/yıl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53288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Splunk SIEM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843784"/>
            <a:ext cx="2057400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8254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~$50K/yıl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2826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IBM QRadar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593592"/>
            <a:ext cx="1289304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24344" y="3575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97706"/>
                </a:solidFill>
              </a:rPr>
              <a:t>~$30K/yıl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03250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Security Onion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343400"/>
            <a:ext cx="252374" cy="21945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7414" y="4325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</a:rPr>
              <a:t>Ücretsiz — günler süren kurulum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78231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NetGuard  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093208"/>
            <a:ext cx="252374" cy="21945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7414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84C7"/>
                </a:solidFill>
              </a:rPr>
              <a:t>Ücretsiz — 30 dakika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Kaynak: Verizon DBIR 2025  ·  IBM Cost of Data Breach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NetGuard: Topla → Tespit Et → Engelle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5029200"/>
          </a:xfrm>
          <a:prstGeom prst="rect">
            <a:avLst/>
          </a:prstGeom>
          <a:solidFill>
            <a:srgbClr val="E0F2FE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74520" y="1371600"/>
            <a:ext cx="73152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284C7"/>
                </a:solidFill>
              </a:rPr>
              <a:t>TOPLA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9 farklı kaynaktan
ağ trafiği toplanır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429000"/>
            <a:ext cx="2834640" cy="127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657600"/>
            <a:ext cx="101600" cy="10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5661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Zeek, Suricata, NetFlow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114800"/>
            <a:ext cx="101600" cy="10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23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Windows Agent, Syslog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572000"/>
            <a:ext cx="101600" cy="10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480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OpenCanary, SNMP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1648" y="356616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188720"/>
            <a:ext cx="3566160" cy="5029200"/>
          </a:xfrm>
          <a:prstGeom prst="rect">
            <a:avLst/>
          </a:prstGeom>
          <a:solidFill>
            <a:srgbClr val="EDE9FE"/>
          </a:solidFill>
          <a:ln w="317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06440" y="1371600"/>
            <a:ext cx="7315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TESPİT 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4 farklı motor
es zamanlı analiz eder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4880" y="3429000"/>
            <a:ext cx="2834640" cy="127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754880" y="3657600"/>
            <a:ext cx="101600" cy="10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19472" y="35661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İmza tabanlı (Sigma)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4114800"/>
            <a:ext cx="101600" cy="10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4023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Kill chain korelasyonu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4572000"/>
            <a:ext cx="101600" cy="10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4480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Anomali + Beaconing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8" y="356616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1188720"/>
            <a:ext cx="3566160" cy="5029200"/>
          </a:xfrm>
          <a:prstGeom prst="rect">
            <a:avLst/>
          </a:prstGeom>
          <a:solidFill>
            <a:srgbClr val="D1FAE5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38360" y="1371600"/>
            <a:ext cx="7315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38360" y="13716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59669"/>
                </a:solidFill>
              </a:rPr>
              <a:t>UYAR &amp; RAPORLA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74320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E293B"/>
                </a:solidFill>
              </a:rPr>
              <a:t>Tehdit tespit edilince
anında bildirim gönderilir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3429000"/>
            <a:ext cx="2834640" cy="127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686800" y="3657600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51392" y="35661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E-posta + webhook uyarısı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4114800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51392" y="40233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Dashboard görselleştirme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0" y="4572000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51392" y="448056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Audit log kaydı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50–500 çalışanlı şirketler için  ·  Sıfır lisans maliyeti  ·  Docker ile 30 dakika kurulum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Sistem Mimarisi — 4 Katmanlı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606040" cy="4846320"/>
          </a:xfrm>
          <a:prstGeom prst="rect">
            <a:avLst/>
          </a:prstGeom>
          <a:solidFill>
            <a:srgbClr val="F1F5F9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2606040" cy="777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430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VERİ
KAYNAKLARI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67128"/>
            <a:ext cx="114300" cy="114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9 farklı kaynak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52928"/>
            <a:ext cx="114300" cy="114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43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Zeek · Suricata · NetFlow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38728"/>
            <a:ext cx="114300" cy="114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Windows · Syslog · SNMP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24528"/>
            <a:ext cx="114300" cy="1143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OpenCanary Honeypot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246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143000"/>
            <a:ext cx="2606040" cy="4846320"/>
          </a:xfrm>
          <a:prstGeom prst="rect">
            <a:avLst/>
          </a:prstGeom>
          <a:solidFill>
            <a:srgbClr val="F1F5F9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37560" y="1143000"/>
            <a:ext cx="2606040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1430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ORTAK
TABLO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2167128"/>
            <a:ext cx="114300" cy="114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4904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normalized_logs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2852928"/>
            <a:ext cx="114300" cy="114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49040" y="2743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ECS uyumlu format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3538728"/>
            <a:ext cx="114300" cy="114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PostgreSQL + TimescaleDB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4224528"/>
            <a:ext cx="114300" cy="1143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Community ID pivot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3246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143000"/>
            <a:ext cx="2606040" cy="4846320"/>
          </a:xfrm>
          <a:prstGeom prst="rect">
            <a:avLst/>
          </a:prstGeom>
          <a:solidFill>
            <a:srgbClr val="F1F5F9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1143000"/>
            <a:ext cx="2606040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11430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TESPİT
MOTORU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167128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pySigma 50+ kural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852928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2743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Kill chain (5 aşama)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538728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Anomali (IsolationForest)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4224528"/>
            <a:ext cx="114300" cy="1143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Beaconing (IAT)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246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89720" y="1143000"/>
            <a:ext cx="2606040" cy="4846320"/>
          </a:xfrm>
          <a:prstGeom prst="rect">
            <a:avLst/>
          </a:prstGeom>
          <a:solidFill>
            <a:srgbClr val="F1F5F9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89720" y="1143000"/>
            <a:ext cx="2606040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11430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UYARI &amp;
RAPORLAMA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2167128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2057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E-posta + webhook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18320" y="2852928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2743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Audit log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18320" y="3538728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0" y="3429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AI açıklama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418320" y="4224528"/>
            <a:ext cx="114300" cy="1143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01200" y="4114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Dashboard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FastAPI + Next.js 16 + Docker Compose 6 servis  ·  60 saniyelik korelasyon döngüsü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7 Veri Kaynağı — Tüm Ağ Görünür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78892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64008" cy="2011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3444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Zeek NSM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258775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14 log tipi
conn · dns · http · ssl · ssh · smtp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143000"/>
            <a:ext cx="278892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143000"/>
            <a:ext cx="64008" cy="20116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23444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Suricata IDS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1645920"/>
            <a:ext cx="258775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45.000+ ET imzası
HTTP · TLS · SSH anomali tespiti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143000"/>
            <a:ext cx="278892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143000"/>
            <a:ext cx="64008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123444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NetFlow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1645920"/>
            <a:ext cx="258775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v5 / v9 / IPFIX / sFlow
Doğu-batı trafik akışları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44584" y="1143000"/>
            <a:ext cx="278892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44584" y="1143000"/>
            <a:ext cx="64008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0032" y="123444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Windows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1645920"/>
            <a:ext cx="258775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60+ olay ID, 5 kanal
Security · Sysmon · PowerShell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57019" y="3383280"/>
            <a:ext cx="278892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757019" y="3383280"/>
            <a:ext cx="64008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12467" y="347472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OpenCanary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12467" y="3886200"/>
            <a:ext cx="258775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12 sahte servis
Honeypot tuzağı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1387" y="3383280"/>
            <a:ext cx="278892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01387" y="3383280"/>
            <a:ext cx="64008" cy="20116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56835" y="347472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</a:rPr>
              <a:t>Syslog &amp; SNMP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56835" y="3886200"/>
            <a:ext cx="258775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UDP 514 · v2c/v3
Güvenlik duvarı · cihaz metrikleri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45755" y="3383280"/>
            <a:ext cx="278892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45755" y="3383280"/>
            <a:ext cx="64008" cy="20116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01203" y="3474720"/>
            <a:ext cx="2587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Community 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01203" y="3886200"/>
            <a:ext cx="258775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RFC standardı korelasyon
Zeek ↔ Suricata ↔ NetFlow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Tüm kaynaklar → normalized_logs (ECS uyumlu merkezi tablo) → PostgreSQL 16 + TimescaleDB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4 Tespit Motoru — Eş Zamanlı Çalışır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743200" cy="5166360"/>
          </a:xfrm>
          <a:prstGeom prst="rect">
            <a:avLst/>
          </a:prstGeom>
          <a:solidFill>
            <a:srgbClr val="E0F2FE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284C7"/>
                </a:solidFill>
              </a:rPr>
              <a:t>İmza
Tabanlı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97480"/>
            <a:ext cx="1737360" cy="2560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50+ Sigma Kuralı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Bilinen saldırı kalıpları
anında tespit edilir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3657600"/>
            <a:ext cx="2194560" cy="95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840479"/>
            <a:ext cx="101600" cy="10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7490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Port taraması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97679"/>
            <a:ext cx="101600" cy="10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2062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Brute force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54879"/>
            <a:ext cx="101600" cy="10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6634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DNS tünelleme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1143000"/>
            <a:ext cx="2743200" cy="5166360"/>
          </a:xfrm>
          <a:prstGeom prst="rect">
            <a:avLst/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1280160"/>
            <a:ext cx="731520" cy="7315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3AED"/>
                </a:solidFill>
              </a:rPr>
              <a:t>Kill Chain
Korelasyon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86200" y="2697480"/>
            <a:ext cx="1737360" cy="2560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26974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5 Aşama / 30 dk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Dağınık olaylar
bir saldırı zinciri olarak görülür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0" y="3657600"/>
            <a:ext cx="2194560" cy="9525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0" y="3840479"/>
            <a:ext cx="101600" cy="10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3048" y="37490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RECON → WEAPONIZE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4297679"/>
            <a:ext cx="101600" cy="10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3048" y="42062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ACCESS → LATERAL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0" y="4754879"/>
            <a:ext cx="101600" cy="10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3048" y="46634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Tam zincir = blokaj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1143000"/>
            <a:ext cx="2743200" cy="5166360"/>
          </a:xfrm>
          <a:prstGeom prst="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60920" y="1280160"/>
            <a:ext cx="7315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6092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7706"/>
                </a:solidFill>
              </a:rPr>
              <a:t>Davranış
Anomalisi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2697480"/>
            <a:ext cx="1737360" cy="25603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6974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Makine Öğrenmesi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508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Normal olmayan trafik
otomatik işaretlenir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29400" y="3657600"/>
            <a:ext cx="2194560" cy="9525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29400" y="3840479"/>
            <a:ext cx="101600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84848" y="37490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Trafik hacmi spike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29400" y="4297679"/>
            <a:ext cx="101600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84848" y="42062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Yeni port / protokol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29400" y="4754879"/>
            <a:ext cx="101600" cy="10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84848" y="46634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7 günlük baseline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143000"/>
            <a:ext cx="2743200" cy="5166360"/>
          </a:xfrm>
          <a:prstGeom prst="rect">
            <a:avLst/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32720" y="1280160"/>
            <a:ext cx="7315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128016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59669"/>
                </a:solidFill>
              </a:rPr>
              <a:t>C2 Beaconing
Tespiti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29800" y="2697480"/>
            <a:ext cx="1737360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29800" y="269748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IAT Analizi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3063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Zararlı yazılımın
komuta merkezi bağlantısı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01200" y="3657600"/>
            <a:ext cx="2194560" cy="9525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601200" y="3840479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56648" y="37490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Düzenli aralıklı trafik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0" y="4297679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56648" y="42062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JA4 TLS parmak izi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601200" y="4754879"/>
            <a:ext cx="101600" cy="10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6648" y="466343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Tehdit puanı 0–100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MITRE ATT&amp;CK v17 eşleştirmesi  ·  Kill chain tespiti &lt;60 saniye  ·  2.788 test — 0 hata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Gerçek Saldırı Testi — 59 Saniyede Tespit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Kali Linux → NetGuard Server  |  10 Haziran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1371600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34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DC2626"/>
                </a:solidFill>
              </a:rPr>
              <a:t>197 GÜN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8745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Endüstri ortalaması tespit süresi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554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1143000"/>
            <a:ext cx="3657600" cy="1371600"/>
          </a:xfrm>
          <a:prstGeom prst="rect">
            <a:avLst/>
          </a:prstGeom>
          <a:solidFill>
            <a:srgbClr val="D1FAE5"/>
          </a:solidFill>
          <a:ln w="317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23444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59669"/>
                </a:solidFill>
              </a:rPr>
              <a:t>59 SANİYE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87451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NetGuard kill chain tespit süresi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371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59669"/>
                </a:solidFill>
              </a:rPr>
              <a:t>34× DAHA HIZLI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18688"/>
            <a:ext cx="11338560" cy="25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651760"/>
            <a:ext cx="2084832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5176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35608" y="3099816"/>
            <a:ext cx="219456" cy="21945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474720"/>
            <a:ext cx="2084832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02152"/>
            <a:ext cx="20848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Port taraması
(nmap)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272491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0632" y="2651760"/>
            <a:ext cx="2084832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0632" y="265176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WEAPONIZE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03320" y="3099816"/>
            <a:ext cx="219456" cy="2194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70632" y="3474720"/>
            <a:ext cx="2084832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0632" y="3502152"/>
            <a:ext cx="20848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Brute force
(660 deneme)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7176" y="272491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38344" y="2651760"/>
            <a:ext cx="208483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38344" y="265176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1032" y="3099816"/>
            <a:ext cx="219456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38344" y="3474720"/>
            <a:ext cx="2084832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38344" y="3502152"/>
            <a:ext cx="20848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SSH girişi
başarılı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04888" y="272491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06056" y="2651760"/>
            <a:ext cx="208483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06056" y="265176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LATERAL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38744" y="3099816"/>
            <a:ext cx="219456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06056" y="3474720"/>
            <a:ext cx="2084832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6056" y="3502152"/>
            <a:ext cx="20848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İç ağ
taraması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724912"/>
            <a:ext cx="228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73768" y="2651760"/>
            <a:ext cx="2084832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73768" y="2651760"/>
            <a:ext cx="20848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FULL
ATTACK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06456" y="3099816"/>
            <a:ext cx="219456" cy="21945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73768" y="3474720"/>
            <a:ext cx="2084832" cy="640080"/>
          </a:xfrm>
          <a:prstGeom prst="rect">
            <a:avLst/>
          </a:prstGeom>
          <a:solidFill>
            <a:srgbClr val="F1F5F9"/>
          </a:solidFill>
          <a:ln w="9525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73768" y="3502152"/>
            <a:ext cx="20848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Zincir tamam
Email uyarısı!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4297680"/>
            <a:ext cx="1133856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89204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BD5E1"/>
                </a:solidFill>
              </a:rPr>
              <a:t>📷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5349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</a:rPr>
              <a:t>[ Kill Chain Timeline — Slaytlara eklenecek ekran görüntüsü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GNS3 Lab: Kali Linux · Windows Server 2022 (WIN-9DUCSU7LDJ0) · NetGuard VM 192.168.203.134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37 Sayfalık Modern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Gerçek zamanlı görünürlük — tek ekranda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7315200" cy="46634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971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CBD5E1"/>
                </a:solidFill>
              </a:rP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</a:rPr>
              <a:t>[ NetGuard Dashboard — Overview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09560" y="1143000"/>
            <a:ext cx="393192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1143000"/>
            <a:ext cx="64008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1978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Kill Chain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14904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Saldırı zinciri görsel olarak izlenir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1920240"/>
            <a:ext cx="393192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1920240"/>
            <a:ext cx="64008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5008" y="197510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AI Alert Explainer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5008" y="226771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Her uyarıyı Llama 3.3 70B açıklar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2697480"/>
            <a:ext cx="393192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2697480"/>
            <a:ext cx="64008" cy="685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65008" y="275234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4C7"/>
                </a:solidFill>
              </a:rPr>
              <a:t>Threat Hunt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304495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Kod yazmadan tehdit araştırması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3474720"/>
            <a:ext cx="393192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3474720"/>
            <a:ext cx="64008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65008" y="352958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MITRE ATT&amp;CK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65008" y="382219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Kapsam analizi ve boşluk haritası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09560" y="4251960"/>
            <a:ext cx="393192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09560" y="4251960"/>
            <a:ext cx="64008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5008" y="430682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Live Log Stream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459943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WebSocket ile anlık log akışı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5029200"/>
            <a:ext cx="3931920" cy="685800"/>
          </a:xfrm>
          <a:prstGeom prst="rect">
            <a:avLst/>
          </a:prstGeom>
          <a:solidFill>
            <a:srgbClr val="F1F5F9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09560" y="5029200"/>
            <a:ext cx="64008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65008" y="5084064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Sigma Rule Wizard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65008" y="53766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</a:rPr>
              <a:t>4 adımda yeni tespit kuralı oluşturma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React 19 · Next.js 16 · ECharts · WebSocket · TanStack Query · Zustand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Kullanılan Teknolojiler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Modern, açık kaynak ve endüstri standardı araçlar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3749039" cy="2514600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097280"/>
            <a:ext cx="3749039" cy="3657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53619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57276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React 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82880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UI bileşen kütüphanesi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5999" y="153619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9151" y="157276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Next.js 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151" y="182880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SSR + App Router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9456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3113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48716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Tip güvenli geliştirme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5999" y="219456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59151" y="223113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Tailwind CSS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9151" y="248716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Utility-first stil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852928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" y="2889504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ECharts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3145536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Grafik &amp; görselleştirme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5999" y="2852928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59151" y="2889504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84C7"/>
                </a:solidFill>
              </a:rPr>
              <a:t>TanStack Query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1" y="3145536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Sunucu durumu yönetimi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3" y="1097280"/>
            <a:ext cx="3749039" cy="251460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3" y="1097280"/>
            <a:ext cx="3749039" cy="3657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06823" y="10972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8263" y="153619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71415" y="157276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Python 3.12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5" y="182880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Ana programlama dili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81342" y="153619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54494" y="157276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54494" y="182880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Async REST API çerçevesi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98263" y="219456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71415" y="223113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pySigma v2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71415" y="248716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Sigma kural motoru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81342" y="219456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54494" y="223113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scikit-learn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4494" y="248716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IsolationForest anomali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98263" y="2852928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71415" y="2889504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pyotp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71415" y="3145536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TOTP / MFA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81342" y="2852928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4" y="2889504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SlowAPI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54494" y="3145536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Rate limiting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02166" y="1097280"/>
            <a:ext cx="3749039" cy="251460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02166" y="1097280"/>
            <a:ext cx="3749039" cy="3657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02166" y="10972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Veritabanı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93606" y="153619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66758" y="157276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PostgreSQL 16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66758" y="182880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İlişkisel veritabanı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76685" y="153619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49837" y="157276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TimescaleDB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49837" y="182880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Zaman serisi uzantısı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93606" y="219456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58" y="223113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Alembic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58" y="248716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Şema migrasyon aracı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76685" y="219456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149837" y="223113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Row-Level Sec.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49837" y="248716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Multi-tenant izolasyon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93606" y="2852928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66758" y="2889504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Hypertable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66758" y="3145536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 günlük bölümleme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76685" y="2852928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49837" y="2889504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Sıkıştırma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49837" y="3145536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7 günde ~8:1 oran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1480" y="3776472"/>
            <a:ext cx="3749039" cy="25146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1480" y="3776472"/>
            <a:ext cx="3749039" cy="3657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80" y="37764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NSM Katmanı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215384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6072" y="4251960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Zeek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" y="4507992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14 log tipi — ağ analizi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5999" y="4215384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359151" y="4251960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Suricata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359151" y="4507992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45.000+ ET imza kuralı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02920" y="487375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76072" y="491032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OpenCanary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" y="51663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Honeypot — 12 servis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285999" y="487375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359151" y="491032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communityid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59151" y="51663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Zeek↔Suricata pivot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553212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6072" y="556869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pyshark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6072" y="582472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BPF / paket yakalama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5999" y="553212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59151" y="556869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Sigma YAML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359151" y="582472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50+ tespit kuralı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06823" y="3776472"/>
            <a:ext cx="3749039" cy="25146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06823" y="3776472"/>
            <a:ext cx="3749039" cy="3657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306823" y="37764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Altyapı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398263" y="4215384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471415" y="4251960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Docker Compose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471415" y="4507992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6 servis tek komutla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181342" y="4215384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54494" y="4251960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nginx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54494" y="4507992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Ters proxy + statik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398263" y="487375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471415" y="491032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systemd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471415" y="51663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Servis yönetimi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181342" y="487375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254494" y="491032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Alembic 21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54494" y="51663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Tam migration geçmişi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398263" y="553212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471415" y="556869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pytest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471415" y="582472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2.788 otomatik test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181342" y="553212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54494" y="556869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</a:rPr>
              <a:t>GitHub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254494" y="582472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Sürüm kontrolü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02166" y="3776472"/>
            <a:ext cx="3749039" cy="2514600"/>
          </a:xfrm>
          <a:prstGeom prst="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202166" y="3776472"/>
            <a:ext cx="3749039" cy="3657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02166" y="3776472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Entegrasyonlar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293606" y="4215384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366758" y="4251960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Groq Llama 3.3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66758" y="4507992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AI alert açıklama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076685" y="4215384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149837" y="4251960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AbuseIPDB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149837" y="4507992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Tehdit istihbaratı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293606" y="487375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366758" y="491032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Feodo Tracker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66758" y="51663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C2 sunucu listesi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076685" y="4873752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149837" y="4910328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ThreatFox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149837" y="5166360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IOC veritabanı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293606" y="553212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366758" y="556869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GreyNoise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366758" y="582472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Tarama / gürültü filtresi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76685" y="5532120"/>
            <a:ext cx="173735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149837" y="5568696"/>
            <a:ext cx="161848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CISA KEV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149837" y="5824728"/>
            <a:ext cx="16184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</a:rPr>
              <a:t>Bilinen istismar listesi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365760" y="6537960"/>
            <a:ext cx="1146017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Tüm bileşenler açık kaynak  ·  83.000 satır kod  ·  Endüstri standardı araçlar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28016"/>
            <a:ext cx="63500" cy="62179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914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F172A"/>
                </a:solidFill>
              </a:rPr>
              <a:t>Sonuçlar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47120" cy="127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743200" cy="1188720"/>
          </a:xfrm>
          <a:prstGeom prst="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97864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284C7"/>
                </a:solidFill>
              </a:rPr>
              <a:t>83,000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56232"/>
            <a:ext cx="274320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Satır Kod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143000"/>
            <a:ext cx="2743200" cy="1188720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197864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59669"/>
                </a:solidFill>
              </a:rPr>
              <a:t>2.788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856232"/>
            <a:ext cx="274320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Test — 0 Hata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1143000"/>
            <a:ext cx="2743200" cy="118872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197864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D97706"/>
                </a:solidFill>
              </a:rPr>
              <a:t>5.9 sn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56232"/>
            <a:ext cx="274320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Ort. Tespit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0" y="1143000"/>
            <a:ext cx="2743200" cy="118872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197864"/>
            <a:ext cx="27432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7C3AED"/>
                </a:solidFill>
              </a:rPr>
              <a:t>~92/100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856232"/>
            <a:ext cx="2743200" cy="416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NSM Kapsamı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60320"/>
            <a:ext cx="7223760" cy="34290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5176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NetGuard ne sağlıyor?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172968"/>
            <a:ext cx="127000" cy="127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1089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Security Onion düzeyinde NSM — Docker ile 30 dakikada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21608"/>
            <a:ext cx="127000" cy="127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65760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Sıfır lisans maliyeti — küçük bütçeli şirketler için erişilebilir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70248"/>
            <a:ext cx="127000" cy="127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4 tespit motoru eş zamanlı — saldırı zinciri 59 saniyede yakalandı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18888"/>
            <a:ext cx="127000" cy="127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75488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Kurumsal güvenlik kontrolü — MFA, RLS, SHA-256 audit 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67528"/>
            <a:ext cx="127000" cy="127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2.788 otomatik test — 0 hata, üretim ortamında kanıtlandı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18120" y="2560320"/>
            <a:ext cx="4023360" cy="3429000"/>
          </a:xfrm>
          <a:prstGeom prst="rect">
            <a:avLst/>
          </a:prstGeom>
          <a:solidFill>
            <a:srgbClr val="0F172A"/>
          </a:solidFill>
          <a:ln w="317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18120" y="29260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Mehmet Çapar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92440" y="3502152"/>
            <a:ext cx="3474720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36118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284C7"/>
                </a:solidFill>
              </a:rPr>
              <a:t>20mehmetcapar02@gmail.com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0233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Sakarya Üniversitesi
Bilgisayar Mühendisliği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70916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</a:rPr>
              <a:t>Danışman:
Prof. Dr. İbrahim ÖZÇELİK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4465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DE80"/>
                </a:solidFill>
              </a:rPr>
              <a:t>docker-compose up -d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64465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·  2.788 test, 0 hata  ·  NSM kapsamı ~92/100  ·  30 dakika kurulum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